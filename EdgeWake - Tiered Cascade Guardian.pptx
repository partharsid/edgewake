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Inter SemiBold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Montserrat Medium"/>
      <p:regular r:id="rId41"/>
      <p:bold r:id="rId42"/>
      <p:italic r:id="rId43"/>
      <p:boldItalic r:id="rId44"/>
    </p:embeddedFont>
    <p:embeddedFont>
      <p:font typeface="Montserrat ExtraBold"/>
      <p:bold r:id="rId45"/>
      <p:boldItalic r:id="rId46"/>
    </p:embeddedFont>
    <p:embeddedFont>
      <p:font typeface="Inter Medium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340769-CB08-4DFE-BD08-349E4EE869C1}">
  <a:tblStyle styleId="{28340769-CB08-4DFE-BD08-349E4EE869C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42" Type="http://schemas.openxmlformats.org/officeDocument/2006/relationships/font" Target="fonts/MontserratMedium-bold.fntdata"/><Relationship Id="rId41" Type="http://schemas.openxmlformats.org/officeDocument/2006/relationships/font" Target="fonts/MontserratMedium-regular.fntdata"/><Relationship Id="rId44" Type="http://schemas.openxmlformats.org/officeDocument/2006/relationships/font" Target="fonts/MontserratMedium-boldItalic.fntdata"/><Relationship Id="rId43" Type="http://schemas.openxmlformats.org/officeDocument/2006/relationships/font" Target="fonts/MontserratMedium-italic.fntdata"/><Relationship Id="rId46" Type="http://schemas.openxmlformats.org/officeDocument/2006/relationships/font" Target="fonts/MontserratExtraBold-boldItalic.fntdata"/><Relationship Id="rId45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Medium-bold.fntdata"/><Relationship Id="rId47" Type="http://schemas.openxmlformats.org/officeDocument/2006/relationships/font" Target="fonts/InterMedium-regular.fntdata"/><Relationship Id="rId49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33" Type="http://schemas.openxmlformats.org/officeDocument/2006/relationships/font" Target="fonts/Inter-regular.fntdata"/><Relationship Id="rId32" Type="http://schemas.openxmlformats.org/officeDocument/2006/relationships/font" Target="fonts/InterSemiBold-boldItalic.fntdata"/><Relationship Id="rId35" Type="http://schemas.openxmlformats.org/officeDocument/2006/relationships/font" Target="fonts/Inter-italic.fntdata"/><Relationship Id="rId34" Type="http://schemas.openxmlformats.org/officeDocument/2006/relationships/font" Target="fonts/Inter-bold.fntdata"/><Relationship Id="rId37" Type="http://schemas.openxmlformats.org/officeDocument/2006/relationships/font" Target="fonts/Montserrat-regular.fntdata"/><Relationship Id="rId36" Type="http://schemas.openxmlformats.org/officeDocument/2006/relationships/font" Target="fonts/Inter-boldItalic.fntdata"/><Relationship Id="rId39" Type="http://schemas.openxmlformats.org/officeDocument/2006/relationships/font" Target="fonts/Montserrat-italic.fntdata"/><Relationship Id="rId38" Type="http://schemas.openxmlformats.org/officeDocument/2006/relationships/font" Target="fonts/Montserra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29" Type="http://schemas.openxmlformats.org/officeDocument/2006/relationships/font" Target="fonts/InterSemiBold-regular.fntdata"/><Relationship Id="rId5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54.png"/><Relationship Id="rId7" Type="http://schemas.openxmlformats.org/officeDocument/2006/relationships/image" Target="../media/image27.png"/><Relationship Id="rId8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9" Type="http://schemas.openxmlformats.org/officeDocument/2006/relationships/image" Target="../media/image42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9" Type="http://schemas.openxmlformats.org/officeDocument/2006/relationships/image" Target="../media/image52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37.png"/><Relationship Id="rId8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8.png"/><Relationship Id="rId9" Type="http://schemas.openxmlformats.org/officeDocument/2006/relationships/image" Target="../media/image47.png"/><Relationship Id="rId5" Type="http://schemas.openxmlformats.org/officeDocument/2006/relationships/image" Target="../media/image43.png"/><Relationship Id="rId6" Type="http://schemas.openxmlformats.org/officeDocument/2006/relationships/image" Target="../media/image51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5" Type="http://schemas.openxmlformats.org/officeDocument/2006/relationships/image" Target="../media/image46.png"/><Relationship Id="rId6" Type="http://schemas.openxmlformats.org/officeDocument/2006/relationships/image" Target="../media/image53.png"/><Relationship Id="rId7" Type="http://schemas.openxmlformats.org/officeDocument/2006/relationships/image" Target="../media/image49.png"/><Relationship Id="rId8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jp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09675" y="1834604"/>
            <a:ext cx="488061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EdgeWake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209675" y="2863304"/>
            <a:ext cx="4648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Tiered Cascade Guardian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09675" y="332422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Ultra-Low-Power Forest Surveillance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209675" y="3914775"/>
            <a:ext cx="23241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209675" y="4210050"/>
            <a:ext cx="46482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"Our system only speaks when spoken to by a disaster."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639550" y="6381750"/>
            <a:ext cx="161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771525"/>
            <a:ext cx="5140642" cy="879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150" u="none" cap="none" strike="noStrike">
                <a:solidFill>
                  <a:srgbClr val="94A3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Why Forest Sensors Fail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71525" y="771525"/>
            <a:ext cx="47625" cy="87987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 title="karsten-winegeart-4FjjmIdV7fE-unsplash.jpg"/>
          <p:cNvPicPr preferRelativeResize="0"/>
          <p:nvPr/>
        </p:nvPicPr>
        <p:blipFill rotWithShape="1">
          <a:blip r:embed="rId4">
            <a:alphaModFix/>
          </a:blip>
          <a:srcRect b="10840" l="0" r="0" t="10833"/>
          <a:stretch/>
        </p:blipFill>
        <p:spPr>
          <a:xfrm>
            <a:off x="6334125" y="9525"/>
            <a:ext cx="584835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57275" y="2184796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Forest fires destroy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10+ million hectares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globally every year.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7275" y="2904827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Illegal logging and poaching go undetected in remote, unmonitored areas.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57275" y="3624857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Existing IoT sensors rely on fixed-schedule cloud communication.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7275" y="4344888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Constant Wi-Fi and sensor polling drains batteries in days, not months.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57275" y="5064918"/>
            <a:ext cx="48006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Replacing batteries in dense forests is highly impractical and expensive.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57275" y="6042124"/>
            <a:ext cx="4800600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Result: Sensors die long before they detect a real threat.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5851624"/>
            <a:ext cx="50863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2203846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292387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71525" y="364390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71525" y="436393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71525" y="508396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71525" y="5870674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■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610975" y="6381750"/>
            <a:ext cx="31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81025" y="1578471"/>
            <a:ext cx="52768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ultra-low-power, multi-modal edge AI node that sleeps 99% of the time.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2595562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Instead of constantly polling the cloud, EdgeWake uses low-power analog tripwires (flame sensor, vibration sensor).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334642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These analog sensors </a:t>
            </a:r>
            <a:r>
              <a:rPr b="0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WAKE UP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high-power systems (microphone, camera, Wi-Fi) ONLY when a real threat is detected.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4348013"/>
            <a:ext cx="4991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device spends 99% of its life in deep sleep (~10 µA) and only uses full power (~160 mA) for 5 seconds during an actual alert.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5361384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Battery life: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Extended to months or years instead of mere days.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78471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81025" y="259556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333464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4348013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81025" y="5361384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EdgeWake — The Solution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11610975" y="6381750"/>
            <a:ext cx="190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16"/>
          <p:cNvGraphicFramePr/>
          <p:nvPr/>
        </p:nvGraphicFramePr>
        <p:xfrm>
          <a:off x="581025" y="16592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{28340769-CB08-4DFE-BD08-349E4EE869C1}</a:tableStyleId>
              </a:tblPr>
              <a:tblGrid>
                <a:gridCol w="2752725"/>
                <a:gridCol w="3853750"/>
                <a:gridCol w="4404425"/>
              </a:tblGrid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Traditional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0B9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EdgeWake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Power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Always 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 Sleep (99%)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Comms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Every 30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Only on confirmed threat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Battery Life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2–7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6–18 months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False Alarms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Sends everything to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3-stage Edge 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Intelligence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Cloud-only processing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Edge AI on device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Sensors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Single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Multi-modal (IR + Audio + Vision)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6"/>
          <p:cNvSpPr/>
          <p:nvPr/>
        </p:nvSpPr>
        <p:spPr>
          <a:xfrm>
            <a:off x="590550" y="2240309"/>
            <a:ext cx="2752725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343275" y="2240309"/>
            <a:ext cx="3853755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7197030" y="2240309"/>
            <a:ext cx="4404419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90550" y="2876550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343275" y="2876550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197030" y="2876550"/>
            <a:ext cx="4404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90550" y="3503265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343275" y="3503265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7197030" y="3503265"/>
            <a:ext cx="4404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90550" y="4129980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343275" y="4129980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197030" y="4129980"/>
            <a:ext cx="4404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90550" y="4756695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3343275" y="4756695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197030" y="4756695"/>
            <a:ext cx="4404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590550" y="5383410"/>
            <a:ext cx="275272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3343275" y="5383410"/>
            <a:ext cx="38537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197030" y="5383410"/>
            <a:ext cx="4404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What Makes EdgeWake Different?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1591925" y="6381750"/>
            <a:ext cx="2095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55553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31390" y="4450853"/>
            <a:ext cx="20846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Tier 1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Deep Sleep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5508128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Current: ~10 µA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Sensors active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2792536" y="2252662"/>
            <a:ext cx="20846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Tier 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HW Interrupt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842170" y="3309937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Current: ~20 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Tripwire triggered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053682" y="4450853"/>
            <a:ext cx="20846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Tier 3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Audio Verif.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103316" y="5508128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Current: ~40 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Edge AI filtering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314827" y="2252662"/>
            <a:ext cx="20846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Tier 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Visual Capture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7364462" y="3309937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Current: ~120 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JPEG Evidence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575973" y="4450853"/>
            <a:ext cx="20846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Tier 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Cloud Handoff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625607" y="5508128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Current: ~160 mA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Send &amp; Sleep</a:t>
            </a:r>
            <a:endParaRPr/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2271" y="446990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49129" y="227171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4562" y="4469903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61895" y="22717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99228" y="4469903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/>
          <p:nvPr/>
        </p:nvSpPr>
        <p:spPr>
          <a:xfrm>
            <a:off x="1459408" y="405080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3720554" y="405080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981700" y="405080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242845" y="405080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10503991" y="4050803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The Tiered Cascade Architecture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771525" y="1116210"/>
            <a:ext cx="60483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tiers from zero-power to full-alert in under 5 seconds.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610975" y="6381750"/>
            <a:ext cx="36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22115"/>
            <a:ext cx="5276850" cy="3834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22115"/>
            <a:ext cx="5276850" cy="3834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4209901"/>
            <a:ext cx="4495800" cy="77331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971550" y="231264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Powered Down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71550" y="2779365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main ESP32 CPU, Wi-Fi radio, and camera module are physically powered OFF.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971550" y="3470820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Only the ULP (Ultra Low Power) co-processor remains minimally active to monitor the environment.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724650" y="2312640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Analog Tripwires Active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724650" y="2779365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Two critical analog sensors remain powered, waiting for anomalies: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724650" y="4400401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system uses ext1 hardware wake-up — the CPU does NOT poll. It is woken solely by a voltage spike on these sensor pins.</a:t>
            </a:r>
            <a:endParaRPr/>
          </a:p>
        </p:txBody>
      </p:sp>
      <p:pic>
        <p:nvPicPr>
          <p:cNvPr descr="image.png" id="203" name="Google Shape;20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34121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1152525" y="4352776"/>
            <a:ext cx="4171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Draw: ~10 µA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152525" y="4627066"/>
            <a:ext cx="4171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Enough to last months on a single 18650 battery.</a:t>
            </a:r>
            <a:endParaRPr/>
          </a:p>
        </p:txBody>
      </p:sp>
      <p:pic>
        <p:nvPicPr>
          <p:cNvPr descr="image.png" id="206" name="Google Shape;20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34121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7010400" y="3470820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Flame Sensor: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(IR receiver) on GPIO 13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7010400" y="3935610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Vibration Sensor: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(SW-420) on GPIO 2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724650" y="347082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724650" y="39356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Tier 1 — Deep Sleep (Near-Zero Power)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1601450" y="6381750"/>
            <a:ext cx="200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19250"/>
            <a:ext cx="5372100" cy="4440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619250"/>
            <a:ext cx="5372100" cy="444028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876300" y="2571750"/>
            <a:ext cx="50206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Trigger Event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76300" y="3038475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environmental anomaly occurs (e.g., flash of fire, illegal logging chainsaw, or landslide).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76300" y="3729930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flame sensor detects infrared radiation OR the vibration sensor detects abnormal ground vibration.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876300" y="4421385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sensor sends a HIGH voltage signal directly to an RTC GPIO pin.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534150" y="2571750"/>
            <a:ext cx="502062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Instant Wake-up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6534150" y="3038475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triggers an ext1 hardware wake-up. The ESP32 powers on instantly.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534150" y="3729930"/>
            <a:ext cx="47815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Firmware identifies WHICH sensor fired by reading the ext1 bitmask: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534150" y="5408116"/>
            <a:ext cx="47815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Debounce logic prevents repeated false triggers.</a:t>
            </a:r>
            <a:endParaRPr/>
          </a:p>
        </p:txBody>
      </p:sp>
      <p:pic>
        <p:nvPicPr>
          <p:cNvPr descr="image.png" id="229" name="Google Shape;2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19526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19526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6819900" y="45156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915150" y="4516635"/>
            <a:ext cx="4400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GPIO 13 HIGH: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"Fire" alert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819900" y="48375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915150" y="4838551"/>
            <a:ext cx="4400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GPIO 2 HIGH: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"Abnormal Vibration"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Tier 2 — Hardware Interrupt (The Tripwire)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11601450" y="6381750"/>
            <a:ext cx="200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733776"/>
            <a:ext cx="5276850" cy="56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389066"/>
            <a:ext cx="5276850" cy="560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729829"/>
            <a:ext cx="52768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581025" y="1729829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Before activating the power-hungry camera, the system verifies the threat using sound.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581025" y="2421284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INMP441 I2S microphone records 2 seconds of audio at 16 kHz.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581025" y="3112740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Two Analysis Modes: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66775" y="3529905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Simple: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RMS energy threshold (fast, effective).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866775" y="3994695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TinyML: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Edge Impulse model classifies sounds as "fire", "chainsaw", or "background".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762000" y="487665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Threat Confirmed: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Proceed to camera.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762000" y="553194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False Alarm: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Back to sleep instantly.</a:t>
            </a:r>
            <a:endParaRPr/>
          </a:p>
        </p:txBody>
      </p:sp>
      <p:pic>
        <p:nvPicPr>
          <p:cNvPr descr="image.png" id="253" name="Google Shape;25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739354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581025" y="352990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581025" y="399469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Tier 3 — Edge Audio Verification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1601450" y="6381750"/>
            <a:ext cx="40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9700" y="2029717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6334125" y="1710779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Irrefutable Proof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334125" y="2177504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tier is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only reached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audio verification confirms a real threat exists, saving massive amounts of power over the device's lifetime.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334125" y="5276701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photo serves as court-admissible evidence for illegal logging prosecution or fire insurance claims.</a:t>
            </a:r>
            <a:endParaRPr/>
          </a:p>
        </p:txBody>
      </p:sp>
      <p:pic>
        <p:nvPicPr>
          <p:cNvPr descr="image.png" id="268" name="Google Shape;26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800" y="2067817"/>
            <a:ext cx="35433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6619875" y="3143250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OV2640 camera module powers on.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619875" y="3608040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Captures a single high-resolution JPEG (800×600).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619875" y="4072830"/>
            <a:ext cx="4991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Flash LED fires briefly for illumination in low-light, dense forest conditions.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619875" y="4811910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Uses PSRAM for high-resolution frame buffers.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334125" y="314325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334125" y="360804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334125" y="407283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334125" y="48119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Tier 4 — Visual Evidence Capture</a:t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11601450" y="6381750"/>
            <a:ext cx="200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80257"/>
            <a:ext cx="5276850" cy="4518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0257"/>
            <a:ext cx="5276850" cy="4518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991867"/>
            <a:ext cx="4495800" cy="9181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971550" y="1999357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Burst Transmission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971550" y="2466082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ESP32 briefly connects to Wi-Fi (typically taking &lt; 3 seconds).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971550" y="3157537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Sends a multipart HTTP POST to an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webhook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containing critical data: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724650" y="1999357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Return to Zero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724650" y="2466082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After the server responds with 200 OK, confirming receipt, Wi-Fi is immediately severed.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724650" y="3157537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device forces itself back into Tier 1 Deep Sleep within milliseconds.</a:t>
            </a:r>
            <a:endParaRPr/>
          </a:p>
        </p:txBody>
      </p:sp>
      <p:pic>
        <p:nvPicPr>
          <p:cNvPr descr="image.png" id="294" name="Google Shape;29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02793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 txBox="1"/>
          <p:nvPr/>
        </p:nvSpPr>
        <p:spPr>
          <a:xfrm>
            <a:off x="1257300" y="3848992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JPEG evidence photo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1257300" y="4313783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Alert type ("Fire" or "Vibration")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1257300" y="4778573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Device ID and GPS/location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257300" y="5243363"/>
            <a:ext cx="42100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Audio RMS energy value &amp; Timestamp</a:t>
            </a:r>
            <a:endParaRPr/>
          </a:p>
        </p:txBody>
      </p:sp>
      <p:pic>
        <p:nvPicPr>
          <p:cNvPr descr="image.png" id="299" name="Google Shape;29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02793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6812280" y="4182367"/>
            <a:ext cx="432054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Total Awake Time: ~5 seconds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915150" y="4506217"/>
            <a:ext cx="41148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threat is reported, and the battery is protected.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971550" y="384899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971550" y="4313783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971550" y="4778573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971550" y="5243363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Tier 5 — Cloud Handoff &amp; Instant Sleep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 txBox="1"/>
          <p:nvPr/>
        </p:nvSpPr>
        <p:spPr>
          <a:xfrm>
            <a:off x="11639550" y="6381750"/>
            <a:ext cx="161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93516"/>
            <a:ext cx="25431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893516"/>
            <a:ext cx="25431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93516"/>
            <a:ext cx="25431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7800" y="2893516"/>
            <a:ext cx="2543175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3"/>
          <p:cNvSpPr txBox="1"/>
          <p:nvPr/>
        </p:nvSpPr>
        <p:spPr>
          <a:xfrm>
            <a:off x="781050" y="3750766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Webhook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781050" y="4122241"/>
            <a:ext cx="2143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Receives the multipart POST alert from the EdgeWake ESP32 node.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3609975" y="3750766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Smart Router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3609975" y="4122241"/>
            <a:ext cx="2143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Routes payload dynamically by alert type (Fire / Vibration / Intruder).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438900" y="3750766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Secure Storage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438900" y="4122241"/>
            <a:ext cx="2143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Stores the high-res evidence photo in Drive with a timestamped filename.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9267825" y="3750766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Instant Alert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9267825" y="4122241"/>
            <a:ext cx="2143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Pushes photo + emergency message directly to the user's phone.</a:t>
            </a:r>
            <a:endParaRPr/>
          </a:p>
        </p:txBody>
      </p:sp>
      <p:pic>
        <p:nvPicPr>
          <p:cNvPr descr="image.png" id="326" name="Google Shape;3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" y="31316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9975" y="31316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31316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67825" y="3131641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3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Cloud-Side Automation with n8n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2500312" y="1116210"/>
            <a:ext cx="73818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 heavy processing is offloaded to the cloud to save ESP32 power.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11687175" y="6381750"/>
            <a:ext cx="38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9" name="Google Shape;339;p24"/>
          <p:cNvGraphicFramePr/>
          <p:nvPr/>
        </p:nvGraphicFramePr>
        <p:xfrm>
          <a:off x="581025" y="1330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{28340769-CB08-4DFE-BD08-349E4EE869C1}</a:tableStyleId>
              </a:tblPr>
              <a:tblGrid>
                <a:gridCol w="2163675"/>
                <a:gridCol w="3183125"/>
                <a:gridCol w="3466350"/>
                <a:gridCol w="2197750"/>
              </a:tblGrid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(approx.)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Microcontroller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ESP32-CAM (AI-Thinker)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 brain + OV2640 camera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Programmer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FTDI USB-to-TTL (CP2102)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Upload firmware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₹150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Microphone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INMP441 I2S MEMS Mic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Audio verification (Tier 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Flame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Generic IR Flame 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Fire detection tripwire (Tier 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Vibration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SW-420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Logging/movement tripwire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18650 Li-ion + TP4056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Long-life battery supply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2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COST PER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~₹1,140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" name="Google Shape;340;p24"/>
          <p:cNvSpPr/>
          <p:nvPr/>
        </p:nvSpPr>
        <p:spPr>
          <a:xfrm>
            <a:off x="590550" y="1911697"/>
            <a:ext cx="2163663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2754213" y="1911697"/>
            <a:ext cx="3183135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5937349" y="1911697"/>
            <a:ext cx="3466355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9403705" y="1911697"/>
            <a:ext cx="2197744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590550" y="2547937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2754213" y="2547937"/>
            <a:ext cx="318313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5937349" y="2547937"/>
            <a:ext cx="34663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9403705" y="2547937"/>
            <a:ext cx="2197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590550" y="3174652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2754213" y="3174652"/>
            <a:ext cx="318313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5937349" y="3174652"/>
            <a:ext cx="34663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9403705" y="3174652"/>
            <a:ext cx="2197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590550" y="3801367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2754213" y="3801367"/>
            <a:ext cx="318313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5937349" y="3801367"/>
            <a:ext cx="34663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9403705" y="3801367"/>
            <a:ext cx="2197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4"/>
          <p:cNvSpPr/>
          <p:nvPr/>
        </p:nvSpPr>
        <p:spPr>
          <a:xfrm>
            <a:off x="590550" y="4428083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2754213" y="4428083"/>
            <a:ext cx="318313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5937349" y="4428083"/>
            <a:ext cx="34663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9403705" y="4428083"/>
            <a:ext cx="2197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590550" y="5054798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2754213" y="5054798"/>
            <a:ext cx="318313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5937349" y="5054798"/>
            <a:ext cx="34663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9403705" y="5054798"/>
            <a:ext cx="2197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590550" y="5681513"/>
            <a:ext cx="216366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2754213" y="5681513"/>
            <a:ext cx="318313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5937349" y="5681513"/>
            <a:ext cx="346635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9403705" y="5681513"/>
            <a:ext cx="219774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771525" y="509736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Hardware Bill of Materials</a:t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581025" y="509736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11658600" y="6381750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035546"/>
            <a:ext cx="52768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5"/>
          <p:cNvSpPr txBox="1"/>
          <p:nvPr/>
        </p:nvSpPr>
        <p:spPr>
          <a:xfrm>
            <a:off x="581025" y="1035546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Connections: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866775" y="1452711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Flame Sensor DO 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GPIO 13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(RTC ext1)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866775" y="1917501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Vibration Sensor DO →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GPIO 2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(RTC ext1)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866775" y="2382291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Camera: Built-in OV2640 (Internal)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866775" y="2847082"/>
            <a:ext cx="49911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Power: 5V via 18650+TP4056+MT3608</a:t>
            </a:r>
            <a:endParaRPr/>
          </a:p>
        </p:txBody>
      </p:sp>
      <p:graphicFrame>
        <p:nvGraphicFramePr>
          <p:cNvPr id="382" name="Google Shape;382;p25"/>
          <p:cNvGraphicFramePr/>
          <p:nvPr/>
        </p:nvGraphicFramePr>
        <p:xfrm>
          <a:off x="581025" y="34071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{28340769-CB08-4DFE-BD08-349E4EE869C1}</a:tableStyleId>
              </a:tblPr>
              <a:tblGrid>
                <a:gridCol w="858875"/>
                <a:gridCol w="2340025"/>
                <a:gridCol w="2058900"/>
              </a:tblGrid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GPIO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>
                          <a:solidFill>
                            <a:srgbClr val="F8FAF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ext1 Wake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SW-420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Flash LED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Built-in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I2S Data 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INMP441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ext1 Wake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Flame Sensor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I2S Word Select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INMP441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2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I2S Clock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INMP441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383" name="Google Shape;3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041266"/>
            <a:ext cx="5257799" cy="4556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 txBox="1"/>
          <p:nvPr/>
        </p:nvSpPr>
        <p:spPr>
          <a:xfrm>
            <a:off x="581025" y="145271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85" name="Google Shape;385;p25"/>
          <p:cNvSpPr txBox="1"/>
          <p:nvPr/>
        </p:nvSpPr>
        <p:spPr>
          <a:xfrm>
            <a:off x="581025" y="191750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581025" y="2382291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87" name="Google Shape;387;p25"/>
          <p:cNvSpPr txBox="1"/>
          <p:nvPr/>
        </p:nvSpPr>
        <p:spPr>
          <a:xfrm>
            <a:off x="581025" y="2847082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590550" y="3778597"/>
            <a:ext cx="858887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1449437" y="3778597"/>
            <a:ext cx="2340024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3789461" y="3778597"/>
            <a:ext cx="2058888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590550" y="4262437"/>
            <a:ext cx="858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1449437" y="4262437"/>
            <a:ext cx="23400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5"/>
          <p:cNvSpPr/>
          <p:nvPr/>
        </p:nvSpPr>
        <p:spPr>
          <a:xfrm>
            <a:off x="3789461" y="4262437"/>
            <a:ext cx="20588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590550" y="4736752"/>
            <a:ext cx="858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5"/>
          <p:cNvSpPr/>
          <p:nvPr/>
        </p:nvSpPr>
        <p:spPr>
          <a:xfrm>
            <a:off x="1449437" y="4736752"/>
            <a:ext cx="23400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5"/>
          <p:cNvSpPr/>
          <p:nvPr/>
        </p:nvSpPr>
        <p:spPr>
          <a:xfrm>
            <a:off x="3789461" y="4736752"/>
            <a:ext cx="20588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590550" y="5211067"/>
            <a:ext cx="858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1449437" y="5211067"/>
            <a:ext cx="23400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3789461" y="5211067"/>
            <a:ext cx="20588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590550" y="5685383"/>
            <a:ext cx="858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1449437" y="5685383"/>
            <a:ext cx="23400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3789461" y="5685383"/>
            <a:ext cx="20588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590550" y="6159698"/>
            <a:ext cx="8588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1449437" y="6159698"/>
            <a:ext cx="23400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3789461" y="6159698"/>
            <a:ext cx="2058888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 txBox="1"/>
          <p:nvPr/>
        </p:nvSpPr>
        <p:spPr>
          <a:xfrm>
            <a:off x="771525" y="214610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Wiring &amp; Pin Assignments</a:t>
            </a:r>
            <a:endParaRPr/>
          </a:p>
        </p:txBody>
      </p:sp>
      <p:sp>
        <p:nvSpPr>
          <p:cNvPr id="407" name="Google Shape;407;p25"/>
          <p:cNvSpPr/>
          <p:nvPr/>
        </p:nvSpPr>
        <p:spPr>
          <a:xfrm>
            <a:off x="581025" y="214610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5"/>
          <p:cNvSpPr txBox="1"/>
          <p:nvPr/>
        </p:nvSpPr>
        <p:spPr>
          <a:xfrm>
            <a:off x="11658600" y="6381750"/>
            <a:ext cx="3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94557"/>
            <a:ext cx="3486150" cy="4289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694557"/>
            <a:ext cx="3486150" cy="4289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694557"/>
            <a:ext cx="3486150" cy="4289821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6"/>
          <p:cNvSpPr txBox="1"/>
          <p:nvPr/>
        </p:nvSpPr>
        <p:spPr>
          <a:xfrm>
            <a:off x="876300" y="264705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Edge Layer (ESP32)</a:t>
            </a:r>
            <a:endParaRPr/>
          </a:p>
        </p:txBody>
      </p:sp>
      <p:sp>
        <p:nvSpPr>
          <p:cNvPr id="418" name="Google Shape;418;p26"/>
          <p:cNvSpPr txBox="1"/>
          <p:nvPr/>
        </p:nvSpPr>
        <p:spPr>
          <a:xfrm>
            <a:off x="876300" y="3113782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Arduino C++ (ESP-IDF)</a:t>
            </a:r>
            <a:endParaRPr/>
          </a:p>
        </p:txBody>
      </p:sp>
      <p:sp>
        <p:nvSpPr>
          <p:cNvPr id="419" name="Google Shape;419;p26"/>
          <p:cNvSpPr txBox="1"/>
          <p:nvPr/>
        </p:nvSpPr>
        <p:spPr>
          <a:xfrm>
            <a:off x="4648200" y="264705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AI Layer (TinyML)</a:t>
            </a:r>
            <a:endParaRPr/>
          </a:p>
        </p:txBody>
      </p:sp>
      <p:sp>
        <p:nvSpPr>
          <p:cNvPr id="420" name="Google Shape;420;p26"/>
          <p:cNvSpPr txBox="1"/>
          <p:nvPr/>
        </p:nvSpPr>
        <p:spPr>
          <a:xfrm>
            <a:off x="4648200" y="3113782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5C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Edge Impulse</a:t>
            </a:r>
            <a:endParaRPr/>
          </a:p>
        </p:txBody>
      </p:sp>
      <p:sp>
        <p:nvSpPr>
          <p:cNvPr id="421" name="Google Shape;421;p26"/>
          <p:cNvSpPr txBox="1"/>
          <p:nvPr/>
        </p:nvSpPr>
        <p:spPr>
          <a:xfrm>
            <a:off x="8420100" y="2647057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Cloud / App Layer</a:t>
            </a:r>
            <a:endParaRPr/>
          </a:p>
        </p:txBody>
      </p:sp>
      <p:sp>
        <p:nvSpPr>
          <p:cNvPr id="422" name="Google Shape;422;p26"/>
          <p:cNvSpPr txBox="1"/>
          <p:nvPr/>
        </p:nvSpPr>
        <p:spPr>
          <a:xfrm>
            <a:off x="8420100" y="3113782"/>
            <a:ext cx="2895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n8n &amp; Web Dashboard</a:t>
            </a:r>
            <a:endParaRPr/>
          </a:p>
        </p:txBody>
      </p:sp>
      <p:pic>
        <p:nvPicPr>
          <p:cNvPr descr="image.png" id="423" name="Google Shape;42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027932"/>
            <a:ext cx="3238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6"/>
          <p:cNvSpPr txBox="1"/>
          <p:nvPr/>
        </p:nvSpPr>
        <p:spPr>
          <a:xfrm>
            <a:off x="1019175" y="36252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1114425" y="3626197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esp_sleep.h — deep sleep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1019175" y="38995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7" name="Google Shape;427;p26"/>
          <p:cNvSpPr txBox="1"/>
          <p:nvPr/>
        </p:nvSpPr>
        <p:spPr>
          <a:xfrm>
            <a:off x="1114425" y="3900487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esp_camera.h — OV2640 capture</a:t>
            </a:r>
            <a:endParaRPr/>
          </a:p>
        </p:txBody>
      </p:sp>
      <p:sp>
        <p:nvSpPr>
          <p:cNvPr id="428" name="Google Shape;428;p26"/>
          <p:cNvSpPr txBox="1"/>
          <p:nvPr/>
        </p:nvSpPr>
        <p:spPr>
          <a:xfrm>
            <a:off x="1019175" y="41738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9" name="Google Shape;429;p26"/>
          <p:cNvSpPr txBox="1"/>
          <p:nvPr/>
        </p:nvSpPr>
        <p:spPr>
          <a:xfrm>
            <a:off x="1114500" y="4092927"/>
            <a:ext cx="265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driver/i2s.h — INMP441 mic</a:t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1019175" y="444811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1114425" y="4449067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HTTPClient.h — multipart POST</a:t>
            </a:r>
            <a:endParaRPr/>
          </a:p>
        </p:txBody>
      </p:sp>
      <p:pic>
        <p:nvPicPr>
          <p:cNvPr descr="image.png" id="432" name="Google Shape;43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02793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6"/>
          <p:cNvSpPr txBox="1"/>
          <p:nvPr/>
        </p:nvSpPr>
        <p:spPr>
          <a:xfrm>
            <a:off x="4791075" y="36252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4" name="Google Shape;434;p26"/>
          <p:cNvSpPr txBox="1"/>
          <p:nvPr/>
        </p:nvSpPr>
        <p:spPr>
          <a:xfrm>
            <a:off x="4886325" y="3626197"/>
            <a:ext cx="2657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TensorFlow Lite for Microcontrollers</a:t>
            </a:r>
            <a:endParaRPr/>
          </a:p>
        </p:txBody>
      </p:sp>
      <p:sp>
        <p:nvSpPr>
          <p:cNvPr id="435" name="Google Shape;435;p26"/>
          <p:cNvSpPr txBox="1"/>
          <p:nvPr/>
        </p:nvSpPr>
        <p:spPr>
          <a:xfrm>
            <a:off x="4791075" y="417382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6" name="Google Shape;436;p26"/>
          <p:cNvSpPr txBox="1"/>
          <p:nvPr/>
        </p:nvSpPr>
        <p:spPr>
          <a:xfrm>
            <a:off x="4886325" y="4174777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MFCC feature extraction</a:t>
            </a:r>
            <a:endParaRPr/>
          </a:p>
        </p:txBody>
      </p:sp>
      <p:sp>
        <p:nvSpPr>
          <p:cNvPr id="437" name="Google Shape;437;p26"/>
          <p:cNvSpPr txBox="1"/>
          <p:nvPr/>
        </p:nvSpPr>
        <p:spPr>
          <a:xfrm>
            <a:off x="4791075" y="444811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8" name="Google Shape;438;p26"/>
          <p:cNvSpPr txBox="1"/>
          <p:nvPr/>
        </p:nvSpPr>
        <p:spPr>
          <a:xfrm>
            <a:off x="4886325" y="4449067"/>
            <a:ext cx="2657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Neural classifier (Fire/Chainsaw)</a:t>
            </a:r>
            <a:endParaRPr/>
          </a:p>
        </p:txBody>
      </p:sp>
      <p:sp>
        <p:nvSpPr>
          <p:cNvPr id="439" name="Google Shape;439;p26"/>
          <p:cNvSpPr txBox="1"/>
          <p:nvPr/>
        </p:nvSpPr>
        <p:spPr>
          <a:xfrm>
            <a:off x="4791075" y="499669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0" name="Google Shape;440;p26"/>
          <p:cNvSpPr txBox="1"/>
          <p:nvPr/>
        </p:nvSpPr>
        <p:spPr>
          <a:xfrm>
            <a:off x="4886325" y="4997648"/>
            <a:ext cx="2657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On-device inference optimization</a:t>
            </a:r>
            <a:endParaRPr/>
          </a:p>
        </p:txBody>
      </p:sp>
      <p:pic>
        <p:nvPicPr>
          <p:cNvPr descr="image.png" id="441" name="Google Shape;44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02793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6"/>
          <p:cNvSpPr txBox="1"/>
          <p:nvPr/>
        </p:nvSpPr>
        <p:spPr>
          <a:xfrm>
            <a:off x="8562975" y="36252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8658225" y="3626197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n8n (open-source automation)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8562975" y="38995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8658225" y="3900487"/>
            <a:ext cx="2657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HTML5/CSS3/JS Web Dashboard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8562975" y="444811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8658225" y="4449067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cascade simulation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8562975" y="472240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8658225" y="4723358"/>
            <a:ext cx="26574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Telegram API integration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Software &amp; Technology Stack</a:t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11639550" y="6381750"/>
            <a:ext cx="1619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7" name="Google Shape;4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20417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27"/>
          <p:cNvSpPr txBox="1"/>
          <p:nvPr/>
        </p:nvSpPr>
        <p:spPr>
          <a:xfrm>
            <a:off x="531390" y="441096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Baseline (5s)</a:t>
            </a:r>
            <a:endParaRPr/>
          </a:p>
        </p:txBody>
      </p:sp>
      <p:sp>
        <p:nvSpPr>
          <p:cNvPr id="460" name="Google Shape;460;p27"/>
          <p:cNvSpPr txBox="1"/>
          <p:nvPr/>
        </p:nvSpPr>
        <p:spPr>
          <a:xfrm>
            <a:off x="581025" y="4782442"/>
            <a:ext cx="1985367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Show Serial Monitor: "Deep Sleep..."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Prove zero-power.</a:t>
            </a:r>
            <a:endParaRPr/>
          </a:p>
        </p:txBody>
      </p:sp>
      <p:sp>
        <p:nvSpPr>
          <p:cNvPr id="461" name="Google Shape;461;p27"/>
          <p:cNvSpPr txBox="1"/>
          <p:nvPr/>
        </p:nvSpPr>
        <p:spPr>
          <a:xfrm>
            <a:off x="2792536" y="2898576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444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Trigger (0s)</a:t>
            </a:r>
            <a:endParaRPr/>
          </a:p>
        </p:txBody>
      </p:sp>
      <p:sp>
        <p:nvSpPr>
          <p:cNvPr id="462" name="Google Shape;462;p27"/>
          <p:cNvSpPr txBox="1"/>
          <p:nvPr/>
        </p:nvSpPr>
        <p:spPr>
          <a:xfrm>
            <a:off x="2842170" y="3270051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Flick lighter near flame sensor.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Interrupt triggered.</a:t>
            </a:r>
            <a:endParaRPr/>
          </a:p>
        </p:txBody>
      </p:sp>
      <p:sp>
        <p:nvSpPr>
          <p:cNvPr id="463" name="Google Shape;463;p27"/>
          <p:cNvSpPr txBox="1"/>
          <p:nvPr/>
        </p:nvSpPr>
        <p:spPr>
          <a:xfrm>
            <a:off x="5053682" y="441096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AB30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Cascade (4s)</a:t>
            </a:r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5103316" y="4782442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Serial: Audio Verif → Camera Capture → Sending.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7314827" y="2898576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B82F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Alert (3s)</a:t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7364462" y="3270051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Phone receives Telegram alert + Photo evidence.</a:t>
            </a:r>
            <a:endParaRPr/>
          </a:p>
        </p:txBody>
      </p:sp>
      <p:sp>
        <p:nvSpPr>
          <p:cNvPr id="467" name="Google Shape;467;p27"/>
          <p:cNvSpPr txBox="1"/>
          <p:nvPr/>
        </p:nvSpPr>
        <p:spPr>
          <a:xfrm>
            <a:off x="9575973" y="4410967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 Recovery (0s)</a:t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9625607" y="4782442"/>
            <a:ext cx="1985367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Serial: "Entering Deep Sleep..."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Cycle complete.</a:t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1459408" y="401091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3720554" y="401091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5981700" y="401091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8242845" y="401091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7"/>
          <p:cNvSpPr/>
          <p:nvPr/>
        </p:nvSpPr>
        <p:spPr>
          <a:xfrm>
            <a:off x="10503991" y="401091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1120"/>
          </a:solidFill>
          <a:ln cap="flat" cmpd="sng" w="3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7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Live Demo — 12-Second Proof</a:t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7"/>
          <p:cNvSpPr txBox="1"/>
          <p:nvPr/>
        </p:nvSpPr>
        <p:spPr>
          <a:xfrm>
            <a:off x="11658600" y="6381750"/>
            <a:ext cx="22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1" name="Google Shape;4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8"/>
          <p:cNvSpPr/>
          <p:nvPr/>
        </p:nvSpPr>
        <p:spPr>
          <a:xfrm>
            <a:off x="1333500" y="1697384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8"/>
          <p:cNvSpPr txBox="1"/>
          <p:nvPr/>
        </p:nvSpPr>
        <p:spPr>
          <a:xfrm>
            <a:off x="1905000" y="1887884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Forest Fire Early Warning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 nascent fires within seconds, preventing widespread destruction.</a:t>
            </a:r>
            <a:endParaRPr/>
          </a:p>
        </p:txBody>
      </p:sp>
      <p:sp>
        <p:nvSpPr>
          <p:cNvPr id="484" name="Google Shape;484;p28"/>
          <p:cNvSpPr/>
          <p:nvPr/>
        </p:nvSpPr>
        <p:spPr>
          <a:xfrm>
            <a:off x="6286500" y="1697384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8"/>
          <p:cNvSpPr txBox="1"/>
          <p:nvPr/>
        </p:nvSpPr>
        <p:spPr>
          <a:xfrm>
            <a:off x="6858000" y="1887884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Illegal Logging Detection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Vibration &amp; audio models isolate and detect chainsaw and felling activity.</a:t>
            </a:r>
            <a:endParaRPr/>
          </a:p>
        </p:txBody>
      </p:sp>
      <p:sp>
        <p:nvSpPr>
          <p:cNvPr id="486" name="Google Shape;486;p28"/>
          <p:cNvSpPr/>
          <p:nvPr/>
        </p:nvSpPr>
        <p:spPr>
          <a:xfrm>
            <a:off x="1333500" y="3188940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1905000" y="3379440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Anti-Poaching Surveillance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Sound classification tailored for gunshot detection in reserves.</a:t>
            </a:r>
            <a:endParaRPr/>
          </a:p>
        </p:txBody>
      </p:sp>
      <p:sp>
        <p:nvSpPr>
          <p:cNvPr id="488" name="Google Shape;488;p28"/>
          <p:cNvSpPr/>
          <p:nvPr/>
        </p:nvSpPr>
        <p:spPr>
          <a:xfrm>
            <a:off x="6286500" y="3188940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6858000" y="3379440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Landslide Monitoring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Vibration tripwires detect subtle ground movements pre-collapse.</a:t>
            </a:r>
            <a:endParaRPr/>
          </a:p>
        </p:txBody>
      </p:sp>
      <p:sp>
        <p:nvSpPr>
          <p:cNvPr id="490" name="Google Shape;490;p28"/>
          <p:cNvSpPr/>
          <p:nvPr/>
        </p:nvSpPr>
        <p:spPr>
          <a:xfrm>
            <a:off x="1333500" y="4680495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1905000" y="4870995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Industrial Safety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Monitor unmanned facilities for fire or structural failures remotely.</a:t>
            </a:r>
            <a:endParaRPr/>
          </a:p>
        </p:txBody>
      </p:sp>
      <p:sp>
        <p:nvSpPr>
          <p:cNvPr id="492" name="Google Shape;492;p28"/>
          <p:cNvSpPr/>
          <p:nvPr/>
        </p:nvSpPr>
        <p:spPr>
          <a:xfrm>
            <a:off x="6286500" y="4680495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6858000" y="4870995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Agricultural Monitoring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 pest swarms via audio, and fire risk during dry seasons.</a:t>
            </a:r>
            <a:endParaRPr/>
          </a:p>
        </p:txBody>
      </p:sp>
      <p:sp>
        <p:nvSpPr>
          <p:cNvPr id="494" name="Google Shape;494;p28"/>
          <p:cNvSpPr/>
          <p:nvPr/>
        </p:nvSpPr>
        <p:spPr>
          <a:xfrm>
            <a:off x="1333500" y="2988915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/>
          <p:nvPr/>
        </p:nvSpPr>
        <p:spPr>
          <a:xfrm>
            <a:off x="6286500" y="2988915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1333500" y="4480470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6286500" y="4480470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1333500" y="5972026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6286500" y="5972026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0" name="Google Shape;5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525" y="188788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188788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2" name="Google Shape;50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3525" y="33794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3" name="Google Shape;50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3794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33525" y="487099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48709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28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Real-World Use Cases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 txBox="1"/>
          <p:nvPr/>
        </p:nvSpPr>
        <p:spPr>
          <a:xfrm>
            <a:off x="11649075" y="6381750"/>
            <a:ext cx="15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3" name="Google Shape;5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9"/>
          <p:cNvSpPr/>
          <p:nvPr/>
        </p:nvSpPr>
        <p:spPr>
          <a:xfrm>
            <a:off x="1333500" y="1697384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9"/>
          <p:cNvSpPr txBox="1"/>
          <p:nvPr/>
        </p:nvSpPr>
        <p:spPr>
          <a:xfrm>
            <a:off x="1905000" y="1887884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LoRa / Satellite Mesh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Eliminate Wi-Fi dependency for true deep-forest deployment.</a:t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6286500" y="1697384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 txBox="1"/>
          <p:nvPr/>
        </p:nvSpPr>
        <p:spPr>
          <a:xfrm>
            <a:off x="6858000" y="1887884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Solar + Supercapacitor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Transition to infinite battery life utilizing energy harvesting.</a:t>
            </a: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1333500" y="3188940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9"/>
          <p:cNvSpPr txBox="1"/>
          <p:nvPr/>
        </p:nvSpPr>
        <p:spPr>
          <a:xfrm>
            <a:off x="1905000" y="3379440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GPS Integration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Auto-report exact threat coordinates directly to responders.</a:t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6286500" y="3188940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6858000" y="3379440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Multi-Node Dashboard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Monitor hundreds of fleet nodes from a single master web panel.</a:t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1333500" y="4680495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 txBox="1"/>
          <p:nvPr/>
        </p:nvSpPr>
        <p:spPr>
          <a:xfrm>
            <a:off x="1905000" y="4870995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On-Device Retraining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Adapt AI models to new threat signatures without re-flashing.</a:t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6286500" y="4680495"/>
            <a:ext cx="4572000" cy="1301055"/>
          </a:xfrm>
          <a:prstGeom prst="roundRect">
            <a:avLst>
              <a:gd fmla="val 585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9"/>
          <p:cNvSpPr txBox="1"/>
          <p:nvPr/>
        </p:nvSpPr>
        <p:spPr>
          <a:xfrm>
            <a:off x="6858000" y="4870995"/>
            <a:ext cx="3810000" cy="9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IP67 Enclosure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Ruggedized, weatherproof 3D-printed housing for severe climates.</a:t>
            </a:r>
            <a:endParaRPr/>
          </a:p>
        </p:txBody>
      </p:sp>
      <p:sp>
        <p:nvSpPr>
          <p:cNvPr id="526" name="Google Shape;526;p29"/>
          <p:cNvSpPr/>
          <p:nvPr/>
        </p:nvSpPr>
        <p:spPr>
          <a:xfrm>
            <a:off x="1333500" y="2988915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9"/>
          <p:cNvSpPr/>
          <p:nvPr/>
        </p:nvSpPr>
        <p:spPr>
          <a:xfrm>
            <a:off x="6286500" y="2988915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9"/>
          <p:cNvSpPr/>
          <p:nvPr/>
        </p:nvSpPr>
        <p:spPr>
          <a:xfrm>
            <a:off x="1333500" y="4480470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9"/>
          <p:cNvSpPr/>
          <p:nvPr/>
        </p:nvSpPr>
        <p:spPr>
          <a:xfrm>
            <a:off x="6286500" y="4480470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9"/>
          <p:cNvSpPr/>
          <p:nvPr/>
        </p:nvSpPr>
        <p:spPr>
          <a:xfrm>
            <a:off x="1333500" y="5972026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9"/>
          <p:cNvSpPr/>
          <p:nvPr/>
        </p:nvSpPr>
        <p:spPr>
          <a:xfrm>
            <a:off x="6286500" y="5972026"/>
            <a:ext cx="4572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2" name="Google Shape;53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3525" y="18878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188788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3525" y="337944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337944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6" name="Google Shape;536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33525" y="48709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7" name="Google Shape;537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48709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9"/>
          <p:cNvSpPr txBox="1"/>
          <p:nvPr/>
        </p:nvSpPr>
        <p:spPr>
          <a:xfrm>
            <a:off x="771525" y="581025"/>
            <a:ext cx="11381422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Future Roadmap</a:t>
            </a:r>
            <a:endParaRPr/>
          </a:p>
        </p:txBody>
      </p:sp>
      <p:sp>
        <p:nvSpPr>
          <p:cNvPr id="539" name="Google Shape;539;p29"/>
          <p:cNvSpPr/>
          <p:nvPr/>
        </p:nvSpPr>
        <p:spPr>
          <a:xfrm>
            <a:off x="581025" y="581025"/>
            <a:ext cx="47625" cy="43993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9"/>
          <p:cNvSpPr txBox="1"/>
          <p:nvPr/>
        </p:nvSpPr>
        <p:spPr>
          <a:xfrm>
            <a:off x="11649075" y="6381750"/>
            <a:ext cx="15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0" title="pexels-lauripoldre-30197098.jpg"/>
          <p:cNvPicPr preferRelativeResize="0"/>
          <p:nvPr/>
        </p:nvPicPr>
        <p:blipFill rotWithShape="1">
          <a:blip r:embed="rId3">
            <a:alphaModFix/>
          </a:blip>
          <a:srcRect b="3131" l="0" r="0" t="3131"/>
          <a:stretch/>
        </p:blipFill>
        <p:spPr>
          <a:xfrm>
            <a:off x="0" y="0"/>
            <a:ext cx="12192000" cy="7577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6" name="Google Shape;5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1975" y="2928044"/>
            <a:ext cx="8058150" cy="157341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30"/>
          <p:cNvSpPr txBox="1"/>
          <p:nvPr/>
        </p:nvSpPr>
        <p:spPr>
          <a:xfrm>
            <a:off x="4030741" y="1186904"/>
            <a:ext cx="413051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8FA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EdgeWake</a:t>
            </a:r>
            <a:endParaRPr/>
          </a:p>
        </p:txBody>
      </p:sp>
      <p:sp>
        <p:nvSpPr>
          <p:cNvPr id="548" name="Google Shape;548;p30"/>
          <p:cNvSpPr txBox="1"/>
          <p:nvPr/>
        </p:nvSpPr>
        <p:spPr>
          <a:xfrm>
            <a:off x="2118600" y="2056422"/>
            <a:ext cx="8124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100" u="none" cap="none" strike="noStrike">
                <a:solidFill>
                  <a:srgbClr val="EF4444"/>
                </a:solidFill>
                <a:latin typeface="Inter Medium"/>
                <a:ea typeface="Inter Medium"/>
                <a:cs typeface="Inter Medium"/>
                <a:sym typeface="Inter Medium"/>
              </a:rPr>
              <a:t>"The smartest sensor is the one that knows when NOT to work."</a:t>
            </a:r>
            <a:endParaRPr>
              <a:solidFill>
                <a:srgbClr val="EF4444"/>
              </a:solidFill>
            </a:endParaRPr>
          </a:p>
        </p:txBody>
      </p:sp>
      <p:sp>
        <p:nvSpPr>
          <p:cNvPr id="549" name="Google Shape;549;p30"/>
          <p:cNvSpPr txBox="1"/>
          <p:nvPr/>
        </p:nvSpPr>
        <p:spPr>
          <a:xfrm>
            <a:off x="4125753" y="4882455"/>
            <a:ext cx="39404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</a:t>
            </a:r>
            <a:endParaRPr/>
          </a:p>
        </p:txBody>
      </p:sp>
      <p:sp>
        <p:nvSpPr>
          <p:cNvPr id="550" name="Google Shape;550;p30"/>
          <p:cNvSpPr txBox="1"/>
          <p:nvPr/>
        </p:nvSpPr>
        <p:spPr>
          <a:xfrm>
            <a:off x="4219575" y="5253930"/>
            <a:ext cx="375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EdgeWake | GitHub: /EdgeWake</a:t>
            </a:r>
            <a:endParaRPr/>
          </a:p>
        </p:txBody>
      </p:sp>
      <p:sp>
        <p:nvSpPr>
          <p:cNvPr id="551" name="Google Shape;551;p30"/>
          <p:cNvSpPr txBox="1"/>
          <p:nvPr/>
        </p:nvSpPr>
        <p:spPr>
          <a:xfrm>
            <a:off x="2362200" y="3289863"/>
            <a:ext cx="201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6–18 Mos</a:t>
            </a:r>
            <a:endParaRPr/>
          </a:p>
        </p:txBody>
      </p:sp>
      <p:sp>
        <p:nvSpPr>
          <p:cNvPr id="552" name="Google Shape;552;p30"/>
          <p:cNvSpPr txBox="1"/>
          <p:nvPr/>
        </p:nvSpPr>
        <p:spPr>
          <a:xfrm>
            <a:off x="2585138" y="3819525"/>
            <a:ext cx="157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Battery Life</a:t>
            </a:r>
            <a:endParaRPr/>
          </a:p>
        </p:txBody>
      </p:sp>
      <p:sp>
        <p:nvSpPr>
          <p:cNvPr id="553" name="Google Shape;553;p30"/>
          <p:cNvSpPr txBox="1"/>
          <p:nvPr/>
        </p:nvSpPr>
        <p:spPr>
          <a:xfrm>
            <a:off x="4705350" y="3223319"/>
            <a:ext cx="9429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&lt; 5s</a:t>
            </a:r>
            <a:endParaRPr/>
          </a:p>
        </p:txBody>
      </p:sp>
      <p:sp>
        <p:nvSpPr>
          <p:cNvPr id="554" name="Google Shape;554;p30"/>
          <p:cNvSpPr txBox="1"/>
          <p:nvPr/>
        </p:nvSpPr>
        <p:spPr>
          <a:xfrm>
            <a:off x="4816875" y="3705375"/>
            <a:ext cx="942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Alert Latency</a:t>
            </a:r>
            <a:endParaRPr/>
          </a:p>
        </p:txBody>
      </p:sp>
      <p:sp>
        <p:nvSpPr>
          <p:cNvPr id="555" name="Google Shape;555;p30"/>
          <p:cNvSpPr txBox="1"/>
          <p:nvPr/>
        </p:nvSpPr>
        <p:spPr>
          <a:xfrm>
            <a:off x="6311025" y="3246025"/>
            <a:ext cx="1646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&lt; ₹1,200</a:t>
            </a:r>
            <a:endParaRPr/>
          </a:p>
        </p:txBody>
      </p:sp>
      <p:sp>
        <p:nvSpPr>
          <p:cNvPr id="556" name="Google Shape;556;p30"/>
          <p:cNvSpPr txBox="1"/>
          <p:nvPr/>
        </p:nvSpPr>
        <p:spPr>
          <a:xfrm>
            <a:off x="6419850" y="3819525"/>
            <a:ext cx="142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Cost per Node</a:t>
            </a:r>
            <a:endParaRPr/>
          </a:p>
        </p:txBody>
      </p:sp>
      <p:sp>
        <p:nvSpPr>
          <p:cNvPr id="557" name="Google Shape;557;p30"/>
          <p:cNvSpPr txBox="1"/>
          <p:nvPr/>
        </p:nvSpPr>
        <p:spPr>
          <a:xfrm>
            <a:off x="8620125" y="3223319"/>
            <a:ext cx="1209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B82F6"/>
                </a:solidFill>
                <a:latin typeface="Montserrat"/>
                <a:ea typeface="Montserrat"/>
                <a:cs typeface="Montserrat"/>
                <a:sym typeface="Montserrat"/>
              </a:rPr>
              <a:t>90%+</a:t>
            </a:r>
            <a:endParaRPr/>
          </a:p>
        </p:txBody>
      </p:sp>
      <p:sp>
        <p:nvSpPr>
          <p:cNvPr id="558" name="Google Shape;558;p30"/>
          <p:cNvSpPr txBox="1"/>
          <p:nvPr/>
        </p:nvSpPr>
        <p:spPr>
          <a:xfrm>
            <a:off x="8620125" y="3819525"/>
            <a:ext cx="12096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False Alarm Red.</a:t>
            </a:r>
            <a:endParaRPr/>
          </a:p>
        </p:txBody>
      </p:sp>
      <p:sp>
        <p:nvSpPr>
          <p:cNvPr id="559" name="Google Shape;559;p30"/>
          <p:cNvSpPr txBox="1"/>
          <p:nvPr/>
        </p:nvSpPr>
        <p:spPr>
          <a:xfrm>
            <a:off x="11658600" y="6391275"/>
            <a:ext cx="15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18</a:t>
            </a:r>
            <a:endParaRPr/>
          </a:p>
        </p:txBody>
      </p:sp>
      <p:sp>
        <p:nvSpPr>
          <p:cNvPr id="560" name="Google Shape;560;p30"/>
          <p:cNvSpPr txBox="1"/>
          <p:nvPr/>
        </p:nvSpPr>
        <p:spPr>
          <a:xfrm>
            <a:off x="9944100" y="5939813"/>
            <a:ext cx="19578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PARTH ARSID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MANASA KANIKE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